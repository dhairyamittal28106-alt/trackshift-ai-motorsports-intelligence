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itchFamily="2" charset="0"/>
      <p:regular r:id="rId12"/>
    </p:embeddedFont>
    <p:embeddedFont>
      <p:font typeface="Montserrat Bold" pitchFamily="2" charset="0"/>
      <p:regular r:id="rId13"/>
    </p:embeddedFont>
    <p:embeddedFont>
      <p:font typeface="Montserrat Extra-Light" pitchFamily="2" charset="0"/>
      <p:regular r:id="rId14"/>
    </p:embeddedFont>
    <p:embeddedFont>
      <p:font typeface="Montserrat Italics" pitchFamily="2" charset="0"/>
      <p:regular r:id="rId15"/>
    </p:embeddedFont>
    <p:embeddedFont>
      <p:font typeface="Montserrat Medium" pitchFamily="2" charset="0"/>
      <p:regular r:id="rId16"/>
    </p:embeddedFont>
    <p:embeddedFont>
      <p:font typeface="Prachason Neue Expanded Bold" pitchFamily="2" charset="-3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2.fntdata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font" Target="fonts/font1.fntdata" /><Relationship Id="rId17" Type="http://schemas.openxmlformats.org/officeDocument/2006/relationships/font" Target="fonts/font6.fntdata" /><Relationship Id="rId2" Type="http://schemas.openxmlformats.org/officeDocument/2006/relationships/slide" Target="slides/slide1.xml" /><Relationship Id="rId16" Type="http://schemas.openxmlformats.org/officeDocument/2006/relationships/font" Target="fonts/font5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4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3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65964" y="6419555"/>
            <a:ext cx="10267498" cy="10267498"/>
          </a:xfrm>
          <a:custGeom>
            <a:avLst/>
            <a:gdLst/>
            <a:ahLst/>
            <a:cxnLst/>
            <a:rect l="l" t="t" r="r" b="b"/>
            <a:pathLst>
              <a:path w="10267498" h="10267498">
                <a:moveTo>
                  <a:pt x="0" y="0"/>
                </a:moveTo>
                <a:lnTo>
                  <a:pt x="10267498" y="0"/>
                </a:lnTo>
                <a:lnTo>
                  <a:pt x="10267498" y="10267498"/>
                </a:lnTo>
                <a:lnTo>
                  <a:pt x="0" y="10267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287721" y="-4431624"/>
            <a:ext cx="10846260" cy="8229600"/>
          </a:xfrm>
          <a:custGeom>
            <a:avLst/>
            <a:gdLst/>
            <a:ahLst/>
            <a:cxnLst/>
            <a:rect l="l" t="t" r="r" b="b"/>
            <a:pathLst>
              <a:path w="10846260" h="8229600">
                <a:moveTo>
                  <a:pt x="0" y="0"/>
                </a:moveTo>
                <a:lnTo>
                  <a:pt x="10846261" y="0"/>
                </a:lnTo>
                <a:lnTo>
                  <a:pt x="1084626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78923" y="-467653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0004" y="3445551"/>
            <a:ext cx="16927991" cy="1517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5"/>
              </a:lnSpc>
            </a:pPr>
            <a:r>
              <a:rPr lang="en-US" sz="7702" b="1">
                <a:solidFill>
                  <a:srgbClr val="DFDEE0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TEAM : NEED FOR SPEED</a:t>
            </a:r>
          </a:p>
        </p:txBody>
      </p:sp>
      <p:sp>
        <p:nvSpPr>
          <p:cNvPr id="6" name="Freeform 6"/>
          <p:cNvSpPr/>
          <p:nvPr/>
        </p:nvSpPr>
        <p:spPr>
          <a:xfrm rot="-3326260">
            <a:off x="10628681" y="5143500"/>
            <a:ext cx="9500260" cy="8229600"/>
          </a:xfrm>
          <a:custGeom>
            <a:avLst/>
            <a:gdLst/>
            <a:ahLst/>
            <a:cxnLst/>
            <a:rect l="l" t="t" r="r" b="b"/>
            <a:pathLst>
              <a:path w="9500260" h="822960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61231" y="5538992"/>
            <a:ext cx="3594618" cy="135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Shivansh pathak</a:t>
            </a:r>
          </a:p>
          <a:p>
            <a:pPr algn="ctr">
              <a:lnSpc>
                <a:spcPts val="3674"/>
              </a:lnSpc>
            </a:pPr>
            <a:r>
              <a:rPr lang="en-US" sz="26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(AI/ML &amp; Data Engineer)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60981" y="5538992"/>
            <a:ext cx="4677464" cy="138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Dhairya</a:t>
            </a:r>
            <a:r>
              <a:rPr lang="en-US" sz="262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Mittal</a:t>
            </a:r>
          </a:p>
          <a:p>
            <a:pPr algn="ctr">
              <a:lnSpc>
                <a:spcPts val="3674"/>
              </a:lnSpc>
            </a:pPr>
            <a:r>
              <a:rPr lang="en-US" sz="262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</a:t>
            </a:r>
            <a:r>
              <a:rPr lang="en-IN" sz="262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AI/ML </a:t>
            </a:r>
            <a:r>
              <a:rPr lang="en-US" sz="262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Full-Stack Engineer)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65964" y="6419555"/>
            <a:ext cx="10267498" cy="10267498"/>
          </a:xfrm>
          <a:custGeom>
            <a:avLst/>
            <a:gdLst/>
            <a:ahLst/>
            <a:cxnLst/>
            <a:rect l="l" t="t" r="r" b="b"/>
            <a:pathLst>
              <a:path w="10267498" h="10267498">
                <a:moveTo>
                  <a:pt x="0" y="0"/>
                </a:moveTo>
                <a:lnTo>
                  <a:pt x="10267498" y="0"/>
                </a:lnTo>
                <a:lnTo>
                  <a:pt x="10267498" y="10267498"/>
                </a:lnTo>
                <a:lnTo>
                  <a:pt x="0" y="10267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64114" y="-4251638"/>
            <a:ext cx="10846260" cy="8229600"/>
          </a:xfrm>
          <a:custGeom>
            <a:avLst/>
            <a:gdLst/>
            <a:ahLst/>
            <a:cxnLst/>
            <a:rect l="l" t="t" r="r" b="b"/>
            <a:pathLst>
              <a:path w="10846260" h="8229600">
                <a:moveTo>
                  <a:pt x="0" y="0"/>
                </a:moveTo>
                <a:lnTo>
                  <a:pt x="10846260" y="0"/>
                </a:lnTo>
                <a:lnTo>
                  <a:pt x="10846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0004" y="3445551"/>
            <a:ext cx="16927991" cy="257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5"/>
              </a:lnSpc>
            </a:pPr>
            <a:r>
              <a:rPr lang="en-US" sz="7702" b="1">
                <a:solidFill>
                  <a:srgbClr val="DFDEE0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TYRE DEGRADATION INTELLIGENCE</a:t>
            </a:r>
          </a:p>
        </p:txBody>
      </p:sp>
      <p:sp>
        <p:nvSpPr>
          <p:cNvPr id="5" name="Freeform 5"/>
          <p:cNvSpPr/>
          <p:nvPr/>
        </p:nvSpPr>
        <p:spPr>
          <a:xfrm rot="-3326260">
            <a:off x="8011804" y="5929289"/>
            <a:ext cx="9500260" cy="8229600"/>
          </a:xfrm>
          <a:custGeom>
            <a:avLst/>
            <a:gdLst/>
            <a:ahLst/>
            <a:cxnLst/>
            <a:rect l="l" t="t" r="r" b="b"/>
            <a:pathLst>
              <a:path w="9500260" h="822960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78139" y="6362405"/>
            <a:ext cx="5865861" cy="193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109" spc="489">
                <a:solidFill>
                  <a:srgbClr val="FFFFFF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ISOLATING TRUE TYRE WEAR FROM FUEL LOAD, TRAFFIC, TRACK EVOLUTION AND OTHER CONFOUNDING FACTORS.</a:t>
            </a:r>
          </a:p>
        </p:txBody>
      </p:sp>
      <p:sp>
        <p:nvSpPr>
          <p:cNvPr id="7" name="Freeform 7"/>
          <p:cNvSpPr/>
          <p:nvPr/>
        </p:nvSpPr>
        <p:spPr>
          <a:xfrm>
            <a:off x="10978923" y="-467653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6432" y="1100265"/>
            <a:ext cx="4963876" cy="511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Tyre performance during practice is affected by multiple variables:</a:t>
            </a:r>
          </a:p>
          <a:p>
            <a:pPr marL="626107" lvl="1" indent="-313054" algn="just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Fuel load</a:t>
            </a:r>
          </a:p>
          <a:p>
            <a:pPr marL="626107" lvl="1" indent="-313054" algn="just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Traffic &amp; dirty air</a:t>
            </a:r>
          </a:p>
          <a:p>
            <a:pPr marL="626107" lvl="1" indent="-313054" algn="just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 evolution</a:t>
            </a:r>
          </a:p>
          <a:p>
            <a:pPr marL="626107" lvl="1" indent="-313054" algn="just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Driver behaviour</a:t>
            </a:r>
          </a:p>
          <a:p>
            <a:pPr marL="626107" lvl="1" indent="-313054" algn="just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Weather &amp; track conditions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181029" y="7610835"/>
            <a:ext cx="9242893" cy="104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6"/>
              </a:lnSpc>
            </a:pPr>
            <a:r>
              <a:rPr lang="en-US" sz="5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THE CHALLENGE!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68299" y="6160580"/>
            <a:ext cx="4963876" cy="69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99" spc="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do we determine how quickly a tyre is actually degrading?</a:t>
            </a:r>
          </a:p>
        </p:txBody>
      </p:sp>
      <p:sp>
        <p:nvSpPr>
          <p:cNvPr id="5" name="Freeform 5"/>
          <p:cNvSpPr/>
          <p:nvPr/>
        </p:nvSpPr>
        <p:spPr>
          <a:xfrm>
            <a:off x="-347881" y="500265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601" flipH="1">
            <a:off x="-3642949" y="1309118"/>
            <a:ext cx="12131969" cy="9205131"/>
          </a:xfrm>
          <a:custGeom>
            <a:avLst/>
            <a:gdLst/>
            <a:ahLst/>
            <a:cxnLst/>
            <a:rect l="l" t="t" r="r" b="b"/>
            <a:pathLst>
              <a:path w="12131969" h="9205131">
                <a:moveTo>
                  <a:pt x="12131969" y="0"/>
                </a:moveTo>
                <a:lnTo>
                  <a:pt x="0" y="0"/>
                </a:lnTo>
                <a:lnTo>
                  <a:pt x="0" y="9205132"/>
                </a:lnTo>
                <a:lnTo>
                  <a:pt x="12131969" y="9205132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611640" y="584533"/>
            <a:ext cx="4940930" cy="27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7"/>
              </a:lnSpc>
            </a:pPr>
            <a:r>
              <a:rPr lang="en-US" sz="1599" spc="3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</p:txBody>
      </p:sp>
      <p:sp>
        <p:nvSpPr>
          <p:cNvPr id="8" name="Freeform 8"/>
          <p:cNvSpPr/>
          <p:nvPr/>
        </p:nvSpPr>
        <p:spPr>
          <a:xfrm>
            <a:off x="15740058" y="10287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84962" y="-448019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33969" y="-7640868"/>
            <a:ext cx="12693341" cy="13630434"/>
          </a:xfrm>
          <a:custGeom>
            <a:avLst/>
            <a:gdLst/>
            <a:ahLst/>
            <a:cxnLst/>
            <a:rect l="l" t="t" r="r" b="b"/>
            <a:pathLst>
              <a:path w="12693341" h="13630434">
                <a:moveTo>
                  <a:pt x="0" y="0"/>
                </a:moveTo>
                <a:lnTo>
                  <a:pt x="12693341" y="0"/>
                </a:lnTo>
                <a:lnTo>
                  <a:pt x="12693341" y="13630433"/>
                </a:lnTo>
                <a:lnTo>
                  <a:pt x="0" y="13630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63433" y="7089111"/>
            <a:ext cx="9242893" cy="125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6"/>
              </a:lnSpc>
            </a:pPr>
            <a:r>
              <a:rPr lang="en-US" sz="6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OUR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078725"/>
            <a:ext cx="8460564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Tyre Degradation Intelligence uses ML to separate tyre wear from external factors and generate a clean degradation curve.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Practice Data → Noise Removal → ML Model → Degradation Curve → Race Strategy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668888" y="7304763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6541" y="6858421"/>
            <a:ext cx="8381159" cy="8999903"/>
          </a:xfrm>
          <a:custGeom>
            <a:avLst/>
            <a:gdLst/>
            <a:ahLst/>
            <a:cxnLst/>
            <a:rect l="l" t="t" r="r" b="b"/>
            <a:pathLst>
              <a:path w="8381159" h="8999903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990600"/>
            <a:ext cx="4940930" cy="27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1599" spc="3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0058" y="10287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47015" y="5307574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54677" y="160582"/>
            <a:ext cx="9460816" cy="145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HOW IT WORKS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16139" y="2213813"/>
            <a:ext cx="13855722" cy="654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Collection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Lap times • Tyre compound • Fuel load • Track conditions • Traffic • Telemetry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Feature Engineering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Lap-level tyre age + fuel-adjusted pace + traffic effects + track evolution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ML Modelling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Estimate the contribution of each factor to lap-time loss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Degradation Isolation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Extract the underlying tyre wear signal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99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Prediction &amp; Validation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Predict race-day degradation and compare against actual performance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2401554" flipH="1">
            <a:off x="14968424" y="-2499560"/>
            <a:ext cx="8376183" cy="8229600"/>
          </a:xfrm>
          <a:custGeom>
            <a:avLst/>
            <a:gdLst/>
            <a:ahLst/>
            <a:cxnLst/>
            <a:rect l="l" t="t" r="r" b="b"/>
            <a:pathLst>
              <a:path w="8376183" h="8229600">
                <a:moveTo>
                  <a:pt x="8376184" y="0"/>
                </a:moveTo>
                <a:lnTo>
                  <a:pt x="0" y="0"/>
                </a:lnTo>
                <a:lnTo>
                  <a:pt x="0" y="8229600"/>
                </a:lnTo>
                <a:lnTo>
                  <a:pt x="8376184" y="8229600"/>
                </a:lnTo>
                <a:lnTo>
                  <a:pt x="837618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262330">
            <a:off x="-710525" y="3978473"/>
            <a:ext cx="7694676" cy="8229600"/>
          </a:xfrm>
          <a:custGeom>
            <a:avLst/>
            <a:gdLst/>
            <a:ahLst/>
            <a:cxnLst/>
            <a:rect l="l" t="t" r="r" b="b"/>
            <a:pathLst>
              <a:path w="7694676" h="8229600">
                <a:moveTo>
                  <a:pt x="0" y="0"/>
                </a:moveTo>
                <a:lnTo>
                  <a:pt x="7694676" y="0"/>
                </a:lnTo>
                <a:lnTo>
                  <a:pt x="76946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724437" y="9359236"/>
            <a:ext cx="4940930" cy="27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7"/>
              </a:lnSpc>
            </a:pPr>
            <a:r>
              <a:rPr lang="en-US" sz="1599" spc="3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17143" y="961513"/>
            <a:ext cx="2853714" cy="84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 Engineering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62329" y="1812071"/>
            <a:ext cx="363341" cy="3633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12571" y="4961829"/>
            <a:ext cx="363341" cy="36334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13837" y="4961829"/>
            <a:ext cx="363341" cy="36334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842159" y="3506279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01420" y="4914204"/>
            <a:ext cx="2853714" cy="41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Collection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198759" y="-1136877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734354" y="4914204"/>
            <a:ext cx="2853714" cy="41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 Modelling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62329" y="8109012"/>
            <a:ext cx="363341" cy="36334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717143" y="8700953"/>
            <a:ext cx="2853714" cy="84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Prediction &amp; Validation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70011" y="7540940"/>
            <a:ext cx="3236113" cy="58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Turn tyre data into actionable race strategy.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250" y="1149399"/>
            <a:ext cx="5862054" cy="102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054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AI PIPELINE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-4283969" y="6172200"/>
            <a:ext cx="9500260" cy="8229600"/>
          </a:xfrm>
          <a:custGeom>
            <a:avLst/>
            <a:gdLst/>
            <a:ahLst/>
            <a:cxnLst/>
            <a:rect l="l" t="t" r="r" b="b"/>
            <a:pathLst>
              <a:path w="9500260" h="822960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198759" y="-3923535"/>
            <a:ext cx="9500260" cy="8229600"/>
          </a:xfrm>
          <a:custGeom>
            <a:avLst/>
            <a:gdLst/>
            <a:ahLst/>
            <a:cxnLst/>
            <a:rect l="l" t="t" r="r" b="b"/>
            <a:pathLst>
              <a:path w="9500260" h="8229600">
                <a:moveTo>
                  <a:pt x="0" y="0"/>
                </a:moveTo>
                <a:lnTo>
                  <a:pt x="9500259" y="0"/>
                </a:lnTo>
                <a:lnTo>
                  <a:pt x="95002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47015" y="-3991653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90580" y="-671649"/>
            <a:ext cx="8381159" cy="8999903"/>
          </a:xfrm>
          <a:custGeom>
            <a:avLst/>
            <a:gdLst/>
            <a:ahLst/>
            <a:cxnLst/>
            <a:rect l="l" t="t" r="r" b="b"/>
            <a:pathLst>
              <a:path w="8381159" h="8999903">
                <a:moveTo>
                  <a:pt x="0" y="0"/>
                </a:moveTo>
                <a:lnTo>
                  <a:pt x="8381160" y="0"/>
                </a:lnTo>
                <a:lnTo>
                  <a:pt x="8381160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33941" y="560376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80562" y="2816136"/>
            <a:ext cx="9500260" cy="8229600"/>
          </a:xfrm>
          <a:custGeom>
            <a:avLst/>
            <a:gdLst/>
            <a:ahLst/>
            <a:cxnLst/>
            <a:rect l="l" t="t" r="r" b="b"/>
            <a:pathLst>
              <a:path w="9500260" h="8229600">
                <a:moveTo>
                  <a:pt x="0" y="0"/>
                </a:moveTo>
                <a:lnTo>
                  <a:pt x="9500260" y="0"/>
                </a:lnTo>
                <a:lnTo>
                  <a:pt x="95002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26124" y="905129"/>
            <a:ext cx="11435753" cy="145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 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54059" y="3553421"/>
            <a:ext cx="8779883" cy="584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TYRE DEGRADATION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0.XX sec/lap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EXPECTED STINT LIFE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XX laps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COMPOUND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Medium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CONFIDENCE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XX%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underneath: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Degradation Curve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graph showing: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Lap Number → Lap Time Loss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with separate curves for Soft / Medium / Hard.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318370" y="990600"/>
            <a:ext cx="4940930" cy="27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7"/>
              </a:lnSpc>
            </a:pPr>
            <a:r>
              <a:rPr lang="en-US" sz="1599" spc="3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61169" y="-12693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57560" y="1959620"/>
            <a:ext cx="7772880" cy="248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TECH </a:t>
            </a:r>
          </a:p>
          <a:p>
            <a:pPr algn="ctr">
              <a:lnSpc>
                <a:spcPts val="8135"/>
              </a:lnSpc>
            </a:pPr>
            <a:r>
              <a:rPr lang="en-US" sz="7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STACK </a:t>
            </a:r>
          </a:p>
        </p:txBody>
      </p:sp>
      <p:sp>
        <p:nvSpPr>
          <p:cNvPr id="4" name="Freeform 4"/>
          <p:cNvSpPr/>
          <p:nvPr/>
        </p:nvSpPr>
        <p:spPr>
          <a:xfrm rot="2782028">
            <a:off x="-4700243" y="-9367521"/>
            <a:ext cx="13714032" cy="14726478"/>
          </a:xfrm>
          <a:custGeom>
            <a:avLst/>
            <a:gdLst/>
            <a:ahLst/>
            <a:cxnLst/>
            <a:rect l="l" t="t" r="r" b="b"/>
            <a:pathLst>
              <a:path w="13714032" h="14726478">
                <a:moveTo>
                  <a:pt x="0" y="0"/>
                </a:moveTo>
                <a:lnTo>
                  <a:pt x="13714033" y="0"/>
                </a:lnTo>
                <a:lnTo>
                  <a:pt x="13714033" y="14726478"/>
                </a:lnTo>
                <a:lnTo>
                  <a:pt x="0" y="14726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680346" y="6344580"/>
            <a:ext cx="3719127" cy="233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 • Pandas • NumPy</a:t>
            </a:r>
          </a:p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Clean &amp; process telemetry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44354" y="5645476"/>
            <a:ext cx="3791112" cy="71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0"/>
              </a:lnSpc>
            </a:pPr>
            <a:r>
              <a:rPr lang="en-US" sz="42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49690" y="6344580"/>
            <a:ext cx="3719127" cy="1860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Scikit-learn • XGBoost</a:t>
            </a:r>
          </a:p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&amp; degradation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213697" y="5645476"/>
            <a:ext cx="3791112" cy="71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0"/>
              </a:lnSpc>
            </a:pPr>
            <a:r>
              <a:rPr lang="en-US" sz="42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8526" y="6420011"/>
            <a:ext cx="5140362" cy="138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SHAP &amp; Understanding model decisions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52534" y="5645476"/>
            <a:ext cx="4896517" cy="145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0"/>
              </a:lnSpc>
            </a:pPr>
            <a:r>
              <a:rPr lang="en-US" sz="42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EXPLAINABILITY</a:t>
            </a:r>
          </a:p>
          <a:p>
            <a:pPr algn="ctr">
              <a:lnSpc>
                <a:spcPts val="5890"/>
              </a:lnSpc>
            </a:pPr>
            <a:endParaRPr lang="en-US" sz="4207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3068720" y="7282905"/>
            <a:ext cx="8381159" cy="8999903"/>
          </a:xfrm>
          <a:custGeom>
            <a:avLst/>
            <a:gdLst/>
            <a:ahLst/>
            <a:cxnLst/>
            <a:rect l="l" t="t" r="r" b="b"/>
            <a:pathLst>
              <a:path w="8381159" h="8999903">
                <a:moveTo>
                  <a:pt x="0" y="0"/>
                </a:moveTo>
                <a:lnTo>
                  <a:pt x="8381160" y="0"/>
                </a:lnTo>
                <a:lnTo>
                  <a:pt x="8381160" y="8999902"/>
                </a:lnTo>
                <a:lnTo>
                  <a:pt x="0" y="8999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153500" y="-91687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18370" y="990600"/>
            <a:ext cx="4940930" cy="57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7"/>
              </a:lnSpc>
            </a:pPr>
            <a:r>
              <a:rPr lang="en-US" sz="1599" spc="3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  <a:p>
            <a:pPr algn="r">
              <a:lnSpc>
                <a:spcPts val="2367"/>
              </a:lnSpc>
            </a:pPr>
            <a:endParaRPr lang="en-US" sz="1599" spc="37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33495" y="3992495"/>
            <a:ext cx="6628223" cy="4553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Beyond the Hackathon: </a:t>
            </a:r>
          </a:p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Tyre Degradation Intelligence → Race Strategy Engine</a:t>
            </a:r>
          </a:p>
          <a:p>
            <a:pPr algn="l">
              <a:lnSpc>
                <a:spcPts val="3625"/>
              </a:lnSpc>
            </a:pPr>
            <a:endParaRPr lang="en-US" sz="258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25"/>
              </a:lnSpc>
            </a:pPr>
            <a:r>
              <a:rPr lang="en-US" sz="258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extensions:</a:t>
            </a:r>
          </a:p>
          <a:p>
            <a:pPr marL="559180" lvl="1" indent="-279590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degradation estimation</a:t>
            </a:r>
          </a:p>
          <a:p>
            <a:pPr marL="559180" lvl="1" indent="-279590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Live pit-stop recommendations</a:t>
            </a:r>
          </a:p>
          <a:p>
            <a:pPr marL="559180" lvl="1" indent="-279590" algn="l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Driver-specific tyre models</a:t>
            </a:r>
          </a:p>
          <a:p>
            <a:pPr algn="l">
              <a:lnSpc>
                <a:spcPts val="3625"/>
              </a:lnSpc>
            </a:pPr>
            <a:endParaRPr lang="en-US" sz="258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25"/>
              </a:lnSpc>
            </a:pPr>
            <a:endParaRPr lang="en-US" sz="258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02387" y="1437625"/>
            <a:ext cx="6059072" cy="248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6"/>
              </a:lnSpc>
            </a:pPr>
            <a:r>
              <a:rPr lang="en-US" sz="7200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FUTURE VISION</a:t>
            </a:r>
          </a:p>
        </p:txBody>
      </p:sp>
      <p:sp>
        <p:nvSpPr>
          <p:cNvPr id="4" name="Freeform 4"/>
          <p:cNvSpPr/>
          <p:nvPr/>
        </p:nvSpPr>
        <p:spPr>
          <a:xfrm rot="-1767601" flipH="1">
            <a:off x="-4467248" y="4187808"/>
            <a:ext cx="12131969" cy="9205131"/>
          </a:xfrm>
          <a:custGeom>
            <a:avLst/>
            <a:gdLst/>
            <a:ahLst/>
            <a:cxnLst/>
            <a:rect l="l" t="t" r="r" b="b"/>
            <a:pathLst>
              <a:path w="12131969" h="9205131">
                <a:moveTo>
                  <a:pt x="12131969" y="0"/>
                </a:moveTo>
                <a:lnTo>
                  <a:pt x="0" y="0"/>
                </a:lnTo>
                <a:lnTo>
                  <a:pt x="0" y="9205131"/>
                </a:lnTo>
                <a:lnTo>
                  <a:pt x="12131969" y="9205131"/>
                </a:lnTo>
                <a:lnTo>
                  <a:pt x="1213196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318370" y="990600"/>
            <a:ext cx="4940930" cy="27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7"/>
              </a:lnSpc>
            </a:pPr>
            <a:r>
              <a:rPr lang="en-US" sz="1599" spc="3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</p:txBody>
      </p:sp>
      <p:sp>
        <p:nvSpPr>
          <p:cNvPr id="6" name="Freeform 6"/>
          <p:cNvSpPr/>
          <p:nvPr/>
        </p:nvSpPr>
        <p:spPr>
          <a:xfrm>
            <a:off x="-2913850" y="-393444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9044" y="3730165"/>
            <a:ext cx="12429912" cy="201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9"/>
              </a:lnSpc>
            </a:pPr>
            <a:r>
              <a:rPr lang="en-US" sz="10374" b="1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61362" y="5674521"/>
            <a:ext cx="4940930" cy="44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2509" spc="5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FOR SPEED</a:t>
            </a:r>
          </a:p>
        </p:txBody>
      </p:sp>
      <p:sp>
        <p:nvSpPr>
          <p:cNvPr id="4" name="Freeform 4"/>
          <p:cNvSpPr/>
          <p:nvPr/>
        </p:nvSpPr>
        <p:spPr>
          <a:xfrm>
            <a:off x="14745487" y="-472856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73314" y="-9462119"/>
            <a:ext cx="12693341" cy="13630434"/>
          </a:xfrm>
          <a:custGeom>
            <a:avLst/>
            <a:gdLst/>
            <a:ahLst/>
            <a:cxnLst/>
            <a:rect l="l" t="t" r="r" b="b"/>
            <a:pathLst>
              <a:path w="12693341" h="13630434">
                <a:moveTo>
                  <a:pt x="0" y="0"/>
                </a:moveTo>
                <a:lnTo>
                  <a:pt x="12693341" y="0"/>
                </a:lnTo>
                <a:lnTo>
                  <a:pt x="12693341" y="13630434"/>
                </a:lnTo>
                <a:lnTo>
                  <a:pt x="0" y="13630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399250" y="7362337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23821" y="6915995"/>
            <a:ext cx="8381159" cy="8999903"/>
          </a:xfrm>
          <a:custGeom>
            <a:avLst/>
            <a:gdLst/>
            <a:ahLst/>
            <a:cxnLst/>
            <a:rect l="l" t="t" r="r" b="b"/>
            <a:pathLst>
              <a:path w="8381159" h="8999903">
                <a:moveTo>
                  <a:pt x="0" y="0"/>
                </a:moveTo>
                <a:lnTo>
                  <a:pt x="8381159" y="0"/>
                </a:lnTo>
                <a:lnTo>
                  <a:pt x="8381159" y="8999903"/>
                </a:lnTo>
                <a:lnTo>
                  <a:pt x="0" y="899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Grey 3D Shapes Tech Company Presentation</dc:title>
  <cp:lastModifiedBy>Dhairya Mittal</cp:lastModifiedBy>
  <cp:revision>2</cp:revision>
  <dcterms:created xsi:type="dcterms:W3CDTF">2006-08-16T00:00:00Z</dcterms:created>
  <dcterms:modified xsi:type="dcterms:W3CDTF">2026-08-30T12:15:54Z</dcterms:modified>
  <dc:identifier>DAHTwn8FWlQ</dc:identifier>
</cp:coreProperties>
</file>